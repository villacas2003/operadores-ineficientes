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282" r:id="rId7"/>
    <p:sldId id="315" r:id="rId8"/>
    <p:sldId id="317" r:id="rId9"/>
    <p:sldId id="318" r:id="rId10"/>
    <p:sldId id="319" r:id="rId11"/>
    <p:sldId id="281" r:id="rId12"/>
    <p:sldId id="321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1166" y="2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TOP OPERADORES INEFICIENTES EN CALLMEMAYBE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POR CARLOS VILLA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 err="1"/>
              <a:t>Octubre</a:t>
            </a:r>
            <a:r>
              <a:rPr lang="en-US" sz="2400" dirty="0"/>
              <a:t>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6583680" cy="86868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047206"/>
            <a:ext cx="6583680" cy="5277394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1. </a:t>
            </a:r>
            <a:r>
              <a:rPr lang="en-US" altLang="en-US" b="1" dirty="0" err="1">
                <a:latin typeface="Arial" panose="020B0604020202020204" pitchFamily="34" charset="0"/>
              </a:rPr>
              <a:t>Contexto</a:t>
            </a:r>
            <a:r>
              <a:rPr lang="en-US" altLang="en-US" b="1" dirty="0">
                <a:latin typeface="Arial" panose="020B0604020202020204" pitchFamily="34" charset="0"/>
              </a:rPr>
              <a:t> y </a:t>
            </a:r>
            <a:r>
              <a:rPr lang="en-US" altLang="en-US" b="1" dirty="0" err="1">
                <a:latin typeface="Arial" panose="020B0604020202020204" pitchFamily="34" charset="0"/>
              </a:rPr>
              <a:t>objetivo</a:t>
            </a:r>
            <a:r>
              <a:rPr lang="en-US" altLang="en-US" b="1" dirty="0">
                <a:latin typeface="Arial" panose="020B0604020202020204" pitchFamily="34" charset="0"/>
              </a:rPr>
              <a:t> del </a:t>
            </a:r>
            <a:r>
              <a:rPr lang="en-US" altLang="en-US" b="1" dirty="0" err="1">
                <a:latin typeface="Arial" panose="020B0604020202020204" pitchFamily="34" charset="0"/>
              </a:rPr>
              <a:t>análisis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2. </a:t>
            </a:r>
            <a:r>
              <a:rPr lang="en-US" altLang="en-US" b="1" dirty="0" err="1">
                <a:latin typeface="Arial" panose="020B0604020202020204" pitchFamily="34" charset="0"/>
              </a:rPr>
              <a:t>Preparación</a:t>
            </a:r>
            <a:r>
              <a:rPr lang="en-US" altLang="en-US" b="1" dirty="0">
                <a:latin typeface="Arial" panose="020B0604020202020204" pitchFamily="34" charset="0"/>
              </a:rPr>
              <a:t> de </a:t>
            </a:r>
            <a:r>
              <a:rPr lang="en-US" altLang="en-US" b="1" dirty="0" err="1">
                <a:latin typeface="Arial" panose="020B0604020202020204" pitchFamily="34" charset="0"/>
              </a:rPr>
              <a:t>datos</a:t>
            </a:r>
            <a:r>
              <a:rPr lang="en-US" altLang="en-US" b="1" dirty="0">
                <a:latin typeface="Arial" panose="020B0604020202020204" pitchFamily="34" charset="0"/>
              </a:rPr>
              <a:t> y </a:t>
            </a:r>
            <a:r>
              <a:rPr lang="en-US" altLang="en-US" b="1" dirty="0" err="1">
                <a:latin typeface="Arial" panose="020B0604020202020204" pitchFamily="34" charset="0"/>
              </a:rPr>
              <a:t>metodología</a:t>
            </a: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3. </a:t>
            </a:r>
            <a:r>
              <a:rPr lang="en-US" altLang="en-US" b="1" dirty="0" err="1">
                <a:latin typeface="Arial" panose="020B0604020202020204" pitchFamily="34" charset="0"/>
              </a:rPr>
              <a:t>Principales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métricas</a:t>
            </a:r>
            <a:r>
              <a:rPr lang="en-US" altLang="en-US" b="1" dirty="0">
                <a:latin typeface="Arial" panose="020B0604020202020204" pitchFamily="34" charset="0"/>
              </a:rPr>
              <a:t> y </a:t>
            </a:r>
            <a:r>
              <a:rPr lang="en-US" altLang="en-US" b="1" dirty="0" err="1">
                <a:latin typeface="Arial" panose="020B0604020202020204" pitchFamily="34" charset="0"/>
              </a:rPr>
              <a:t>patrones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encontrados</a:t>
            </a: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4. </a:t>
            </a:r>
            <a:r>
              <a:rPr lang="en-US" altLang="en-US" b="1" dirty="0" err="1">
                <a:latin typeface="Arial" panose="020B0604020202020204" pitchFamily="34" charset="0"/>
              </a:rPr>
              <a:t>Identificación</a:t>
            </a:r>
            <a:r>
              <a:rPr lang="en-US" altLang="en-US" b="1" dirty="0">
                <a:latin typeface="Arial" panose="020B0604020202020204" pitchFamily="34" charset="0"/>
              </a:rPr>
              <a:t> de </a:t>
            </a:r>
            <a:r>
              <a:rPr lang="en-US" altLang="en-US" b="1" dirty="0" err="1">
                <a:latin typeface="Arial" panose="020B0604020202020204" pitchFamily="34" charset="0"/>
              </a:rPr>
              <a:t>operadores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ineficientes</a:t>
            </a:r>
            <a:r>
              <a:rPr lang="en-US" altLang="en-US" b="1" dirty="0">
                <a:latin typeface="Arial" panose="020B0604020202020204" pitchFamily="34" charset="0"/>
              </a:rPr>
              <a:t> (ranking y </a:t>
            </a:r>
            <a:r>
              <a:rPr lang="en-US" altLang="en-US" b="1" dirty="0" err="1">
                <a:latin typeface="Arial" panose="020B0604020202020204" pitchFamily="34" charset="0"/>
              </a:rPr>
              <a:t>pruebas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estadísticas</a:t>
            </a:r>
            <a:r>
              <a:rPr lang="en-US" altLang="en-US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5. Insights clave y </a:t>
            </a:r>
            <a:r>
              <a:rPr lang="en-US" altLang="en-US" b="1" dirty="0" err="1">
                <a:latin typeface="Arial" panose="020B0604020202020204" pitchFamily="34" charset="0"/>
              </a:rPr>
              <a:t>recomendaciones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automáticas</a:t>
            </a: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6. </a:t>
            </a:r>
            <a:r>
              <a:rPr lang="en-US" altLang="en-US" b="1" dirty="0" err="1">
                <a:latin typeface="Arial" panose="020B0604020202020204" pitchFamily="34" charset="0"/>
              </a:rPr>
              <a:t>Conclusiones</a:t>
            </a:r>
            <a:r>
              <a:rPr lang="en-US" altLang="en-US" b="1" dirty="0">
                <a:latin typeface="Arial" panose="020B0604020202020204" pitchFamily="34" charset="0"/>
              </a:rPr>
              <a:t> y </a:t>
            </a:r>
            <a:r>
              <a:rPr lang="en-US" altLang="en-US" b="1" dirty="0" err="1">
                <a:latin typeface="Arial" panose="020B0604020202020204" pitchFamily="34" charset="0"/>
              </a:rPr>
              <a:t>próximos</a:t>
            </a:r>
            <a:r>
              <a:rPr lang="en-US" altLang="en-US" b="1" dirty="0">
                <a:latin typeface="Arial" panose="020B0604020202020204" pitchFamily="34" charset="0"/>
              </a:rPr>
              <a:t> pasos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029" y="457199"/>
            <a:ext cx="9060369" cy="994164"/>
          </a:xfrm>
        </p:spPr>
        <p:txBody>
          <a:bodyPr/>
          <a:lstStyle/>
          <a:p>
            <a:pPr algn="ctr"/>
            <a:r>
              <a:rPr lang="es-ES" dirty="0"/>
              <a:t>Análisis de eficiencia operativa en el </a:t>
            </a:r>
            <a:r>
              <a:rPr lang="es-ES" dirty="0" err="1"/>
              <a:t>call</a:t>
            </a:r>
            <a:r>
              <a:rPr lang="es-ES" dirty="0"/>
              <a:t> center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27164" y="2028493"/>
            <a:ext cx="8702233" cy="34976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sz="2800" dirty="0"/>
              <a:t>El objetivo principal fue identificar operadores con desempeño ineficiente, entendiendo causas ligadas a:</a:t>
            </a:r>
          </a:p>
          <a:p>
            <a:r>
              <a:rPr lang="es-ES" sz="2800" dirty="0"/>
              <a:t>Tasas de llamadas perdidas</a:t>
            </a:r>
          </a:p>
          <a:p>
            <a:r>
              <a:rPr lang="es-ES" sz="2800" dirty="0"/>
              <a:t>Tiempos de espera excesivos</a:t>
            </a:r>
          </a:p>
          <a:p>
            <a:r>
              <a:rPr lang="es-ES" sz="2800" dirty="0"/>
              <a:t>Baja proporción de llamadas salientes</a:t>
            </a:r>
          </a:p>
          <a:p>
            <a:pPr marL="0" indent="0">
              <a:buNone/>
            </a:pPr>
            <a:r>
              <a:rPr lang="es-ES" sz="2800" dirty="0"/>
              <a:t>Se buscó priorizar esfuerzos de mejora y proponer acciones automáticas de coaching o redistribución de carga.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pPr algn="ctr"/>
            <a:r>
              <a:rPr lang="es-ES" dirty="0"/>
              <a:t>Depuración y normalización de los datos</a:t>
            </a:r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8066314" cy="423928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Se cargaron 45,730 registros de llamadas provenientes del sistema telefónico.</a:t>
            </a:r>
          </a:p>
          <a:p>
            <a:r>
              <a:rPr lang="es-ES" dirty="0"/>
              <a:t>Limpieza y conversión de tipos: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Fechas → </a:t>
            </a:r>
            <a:r>
              <a:rPr lang="es-ES" dirty="0" err="1"/>
              <a:t>datetime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Duraciones → </a:t>
            </a:r>
            <a:r>
              <a:rPr lang="es-ES" dirty="0" err="1"/>
              <a:t>float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Códigos de operador → </a:t>
            </a:r>
            <a:r>
              <a:rPr lang="es-ES" dirty="0" err="1"/>
              <a:t>string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Mapeo seguro de variables categóricas: </a:t>
            </a:r>
            <a:r>
              <a:rPr lang="es-ES" dirty="0" err="1"/>
              <a:t>is_missed_call</a:t>
            </a:r>
            <a:r>
              <a:rPr lang="es-ES" dirty="0"/>
              <a:t> e </a:t>
            </a:r>
            <a:r>
              <a:rPr lang="es-ES" dirty="0" err="1"/>
              <a:t>internal</a:t>
            </a:r>
            <a:r>
              <a:rPr lang="es-ES" dirty="0"/>
              <a:t> fueron estandarizadas con diccionarios de valores válidos.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Se detectaron 60 valores no mapeados en </a:t>
            </a:r>
            <a:r>
              <a:rPr lang="es-ES" dirty="0" err="1"/>
              <a:t>internal</a:t>
            </a:r>
            <a:r>
              <a:rPr lang="es-ES" dirty="0"/>
              <a:t>, revisados antes de agregación.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Detectar valores no reconocidos permitió evitar sesgos en las tasas de llamadas perdidas e internas.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pPr algn="ctr"/>
            <a:r>
              <a:rPr lang="es-ES" dirty="0"/>
              <a:t>Definición de </a:t>
            </a:r>
            <a:r>
              <a:rPr lang="es-ES" dirty="0" err="1"/>
              <a:t>KPIs</a:t>
            </a:r>
            <a:r>
              <a:rPr lang="es-ES" dirty="0"/>
              <a:t> y construcción de métricas agregadas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48343" y="2303463"/>
            <a:ext cx="3849007" cy="455453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S" dirty="0"/>
              <a:t>Se calcularon indicadores a nivel operador: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Total_calls</a:t>
            </a:r>
            <a:r>
              <a:rPr lang="es-ES" dirty="0"/>
              <a:t> – volumen total de llamadas atendidas.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Missed_rows</a:t>
            </a:r>
            <a:r>
              <a:rPr lang="es-ES" dirty="0"/>
              <a:t> – cantidad de llamadas perdidas.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Missed_rate_row</a:t>
            </a:r>
            <a:r>
              <a:rPr lang="es-ES" dirty="0"/>
              <a:t> – proporción de llamadas perdidas por operador.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Mean_wait</a:t>
            </a:r>
            <a:r>
              <a:rPr lang="es-ES" dirty="0"/>
              <a:t> y </a:t>
            </a:r>
            <a:r>
              <a:rPr lang="es-ES" dirty="0" err="1"/>
              <a:t>Median_wait</a:t>
            </a:r>
            <a:r>
              <a:rPr lang="es-ES" dirty="0"/>
              <a:t> – promedio y mediana de tiempo de espera.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Outgoing_calls</a:t>
            </a:r>
            <a:r>
              <a:rPr lang="es-ES" dirty="0"/>
              <a:t> / </a:t>
            </a:r>
            <a:r>
              <a:rPr lang="es-ES" dirty="0" err="1"/>
              <a:t>Incoming_calls</a:t>
            </a:r>
            <a:r>
              <a:rPr lang="es-ES" dirty="0"/>
              <a:t> – composición de flujo de llamadas.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Ineff_score</a:t>
            </a:r>
            <a:r>
              <a:rPr lang="es-ES" dirty="0"/>
              <a:t> – índice compuesto de ineficiencia (ponderado 0.5 / 0.3 / 0.2).En el que los pesos priorizan la tasa de llamadas perdidas (50%), seguida del tiempo medio de espera (30%) y baja actividad saliente (20%).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38C513D-E69C-F29A-75AD-41DA7D064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350" y="2753303"/>
            <a:ext cx="5438775" cy="38762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25E362-B87A-7F65-F9CE-06B3C6DFAB2B}"/>
              </a:ext>
            </a:extLst>
          </p:cNvPr>
          <p:cNvSpPr txBox="1"/>
          <p:nvPr/>
        </p:nvSpPr>
        <p:spPr>
          <a:xfrm>
            <a:off x="5064125" y="232219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50000"/>
                  </a:schemeClr>
                </a:solidFill>
              </a:rPr>
              <a:t>TOP 15 OPERADORES INEFICIENTES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571F44-88C2-3906-7A43-E449C0EC11A3}"/>
              </a:ext>
            </a:extLst>
          </p:cNvPr>
          <p:cNvSpPr txBox="1"/>
          <p:nvPr/>
        </p:nvSpPr>
        <p:spPr>
          <a:xfrm>
            <a:off x="9636125" y="3064230"/>
            <a:ext cx="18941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rgbClr val="002060"/>
                </a:solidFill>
              </a:rPr>
              <a:t>Cada operador fue evaluado con un score compuesto robusto a </a:t>
            </a:r>
            <a:r>
              <a:rPr lang="es-ES" sz="1400" dirty="0" err="1">
                <a:solidFill>
                  <a:srgbClr val="002060"/>
                </a:solidFill>
              </a:rPr>
              <a:t>outliers</a:t>
            </a:r>
            <a:r>
              <a:rPr lang="es-ES" sz="1400" dirty="0">
                <a:solidFill>
                  <a:srgbClr val="002060"/>
                </a:solidFill>
              </a:rPr>
              <a:t>. Así pudimos comparar objetivamente niveles de desempeño sin depender de una sola métrica.</a:t>
            </a:r>
            <a:endParaRPr lang="en-AU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1989"/>
            <a:ext cx="10395857" cy="1012782"/>
          </a:xfrm>
        </p:spPr>
        <p:txBody>
          <a:bodyPr/>
          <a:lstStyle/>
          <a:p>
            <a:pPr algn="ctr"/>
            <a:r>
              <a:rPr lang="en-AU" dirty="0" err="1"/>
              <a:t>Confirmación</a:t>
            </a:r>
            <a:r>
              <a:rPr lang="en-AU" dirty="0"/>
              <a:t> </a:t>
            </a:r>
            <a:r>
              <a:rPr lang="en-AU" dirty="0" err="1"/>
              <a:t>estadística</a:t>
            </a:r>
            <a:r>
              <a:rPr lang="en-AU" dirty="0"/>
              <a:t> de </a:t>
            </a:r>
            <a:r>
              <a:rPr lang="en-AU" dirty="0" err="1"/>
              <a:t>ineficiencia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456" y="1226968"/>
            <a:ext cx="11549744" cy="5239146"/>
          </a:xfrm>
        </p:spPr>
        <p:txBody>
          <a:bodyPr>
            <a:normAutofit lnSpcReduction="10000"/>
          </a:bodyPr>
          <a:lstStyle/>
          <a:p>
            <a:r>
              <a:rPr lang="es-ES" dirty="0"/>
              <a:t>Se aplicaron dos pruebas principales:</a:t>
            </a:r>
          </a:p>
          <a:p>
            <a:endParaRPr lang="es-ES" b="1" dirty="0"/>
          </a:p>
          <a:p>
            <a:r>
              <a:rPr lang="es-ES" b="1" dirty="0"/>
              <a:t>1) Z-test de proporciones</a:t>
            </a:r>
            <a:r>
              <a:rPr lang="es-ES" dirty="0"/>
              <a:t> → compara la tasa de llamadas perdidas del operador vs. el promedio de sus pares.</a:t>
            </a:r>
          </a:p>
          <a:p>
            <a:pPr lvl="1"/>
            <a:r>
              <a:rPr lang="es-ES" dirty="0"/>
              <a:t>Método: </a:t>
            </a:r>
            <a:r>
              <a:rPr lang="es-ES" dirty="0" err="1"/>
              <a:t>proportions_ztest</a:t>
            </a:r>
            <a:endParaRPr lang="es-ES" dirty="0"/>
          </a:p>
          <a:p>
            <a:pPr lvl="1"/>
            <a:r>
              <a:rPr lang="es-ES" dirty="0"/>
              <a:t>Corrección de multiplicidad: </a:t>
            </a:r>
            <a:r>
              <a:rPr lang="es-ES" i="1" dirty="0" err="1"/>
              <a:t>Benjamini</a:t>
            </a:r>
            <a:r>
              <a:rPr lang="es-ES" i="1" dirty="0"/>
              <a:t>–</a:t>
            </a:r>
            <a:r>
              <a:rPr lang="es-ES" i="1" dirty="0" err="1"/>
              <a:t>Hochberg</a:t>
            </a:r>
            <a:r>
              <a:rPr lang="es-ES" i="1" dirty="0"/>
              <a:t> (FDR)</a:t>
            </a:r>
          </a:p>
          <a:p>
            <a:pPr marL="0" lvl="1" indent="0">
              <a:buNone/>
            </a:pPr>
            <a:endParaRPr lang="es-ES" dirty="0"/>
          </a:p>
          <a:p>
            <a:r>
              <a:rPr lang="es-ES" b="1" dirty="0"/>
              <a:t>2) Mann–Whitney U test</a:t>
            </a:r>
            <a:r>
              <a:rPr lang="es-ES" dirty="0"/>
              <a:t> → compara tiempos de espera medianos entre operador y grupo.</a:t>
            </a:r>
          </a:p>
          <a:p>
            <a:endParaRPr lang="es-E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dirty="0"/>
              <a:t>Los operadores con </a:t>
            </a:r>
            <a:r>
              <a:rPr lang="es-ES" i="1" dirty="0"/>
              <a:t>p-valor ajustado &lt; 0.05</a:t>
            </a:r>
            <a:r>
              <a:rPr lang="es-ES" dirty="0"/>
              <a:t> se consideraron significativamente peores que el resto.</a:t>
            </a:r>
          </a:p>
          <a:p>
            <a:endParaRPr lang="es-E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dirty="0"/>
              <a:t>No basta con ver quién tiene más llamadas perdidas; verificamos si esa diferencia era estadísticamente significativa. Solo así evitamos falsas alarmas.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421" y="469445"/>
            <a:ext cx="10227779" cy="999746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ES" dirty="0"/>
              <a:t>Priorización automática de operadores según riesgo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217229" y="2026140"/>
            <a:ext cx="4208797" cy="3961593"/>
          </a:xfrm>
        </p:spPr>
        <p:txBody>
          <a:bodyPr>
            <a:normAutofit/>
          </a:bodyPr>
          <a:lstStyle/>
          <a:p>
            <a:r>
              <a:rPr lang="es-ES" dirty="0"/>
              <a:t>Se generó una tabla final con prioridad por operador con tasa de llamadas perdidas y espera en top 10% + score alto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Esta tabla se convierte en un tablero de control operativo. Cada fila es una alerta accionable, no un dato más.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BC8959-DAE8-7F9A-B3D2-A42B8DC89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753758"/>
              </p:ext>
            </p:extLst>
          </p:nvPr>
        </p:nvGraphicFramePr>
        <p:xfrm>
          <a:off x="1278420" y="2019998"/>
          <a:ext cx="5731979" cy="4152203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961511">
                  <a:extLst>
                    <a:ext uri="{9D8B030D-6E8A-4147-A177-3AD203B41FA5}">
                      <a16:colId xmlns:a16="http://schemas.microsoft.com/office/drawing/2014/main" val="2590055151"/>
                    </a:ext>
                  </a:extLst>
                </a:gridCol>
                <a:gridCol w="877069">
                  <a:extLst>
                    <a:ext uri="{9D8B030D-6E8A-4147-A177-3AD203B41FA5}">
                      <a16:colId xmlns:a16="http://schemas.microsoft.com/office/drawing/2014/main" val="2990528442"/>
                    </a:ext>
                  </a:extLst>
                </a:gridCol>
                <a:gridCol w="1321958">
                  <a:extLst>
                    <a:ext uri="{9D8B030D-6E8A-4147-A177-3AD203B41FA5}">
                      <a16:colId xmlns:a16="http://schemas.microsoft.com/office/drawing/2014/main" val="2813797214"/>
                    </a:ext>
                  </a:extLst>
                </a:gridCol>
                <a:gridCol w="931262">
                  <a:extLst>
                    <a:ext uri="{9D8B030D-6E8A-4147-A177-3AD203B41FA5}">
                      <a16:colId xmlns:a16="http://schemas.microsoft.com/office/drawing/2014/main" val="371220969"/>
                    </a:ext>
                  </a:extLst>
                </a:gridCol>
                <a:gridCol w="938824">
                  <a:extLst>
                    <a:ext uri="{9D8B030D-6E8A-4147-A177-3AD203B41FA5}">
                      <a16:colId xmlns:a16="http://schemas.microsoft.com/office/drawing/2014/main" val="472060812"/>
                    </a:ext>
                  </a:extLst>
                </a:gridCol>
                <a:gridCol w="701355">
                  <a:extLst>
                    <a:ext uri="{9D8B030D-6E8A-4147-A177-3AD203B41FA5}">
                      <a16:colId xmlns:a16="http://schemas.microsoft.com/office/drawing/2014/main" val="1208805177"/>
                    </a:ext>
                  </a:extLst>
                </a:gridCol>
              </a:tblGrid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operator_id</a:t>
                      </a:r>
                      <a:endParaRPr lang="en-AU" sz="1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783" marR="55096" marT="63679" marB="636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total_calls</a:t>
                      </a:r>
                      <a:endParaRPr lang="en-AU" sz="1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783" marR="55096" marT="63679" marB="636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missed_rate_row</a:t>
                      </a:r>
                      <a:endParaRPr lang="en-AU" sz="1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783" marR="55096" marT="63679" marB="636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mean_wait</a:t>
                      </a:r>
                      <a:endParaRPr lang="en-AU" sz="1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783" marR="55096" marT="63679" marB="636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ineff_score</a:t>
                      </a:r>
                      <a:endParaRPr lang="en-AU" sz="1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783" marR="55096" marT="63679" marB="636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priority</a:t>
                      </a:r>
                    </a:p>
                  </a:txBody>
                  <a:tcPr marL="82783" marR="55096" marT="63679" marB="636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33465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952466.0</a:t>
                      </a:r>
                    </a:p>
                  </a:txBody>
                  <a:tcPr marL="82783" marR="55096" marT="63679" marB="6367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134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75.0%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546.8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0.88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010358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928518.0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337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57.14%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1106.6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0.86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580227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938080.0</a:t>
                      </a:r>
                    </a:p>
                  </a:txBody>
                  <a:tcPr marL="82783" marR="55096" marT="63679" marB="6367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742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55.56%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1876.2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0.86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441354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919362.0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2546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54.84%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1999.7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0.82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81435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919382.0</a:t>
                      </a:r>
                    </a:p>
                  </a:txBody>
                  <a:tcPr marL="82783" marR="55096" marT="63679" marB="6367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1827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55.56%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1259.1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0.81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560084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919306.0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1664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55.17%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1323.8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0.81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917576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919162.0</a:t>
                      </a:r>
                    </a:p>
                  </a:txBody>
                  <a:tcPr marL="82783" marR="55096" marT="63679" marB="6367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2933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54.55%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1929.4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 dirty="0">
                          <a:solidFill>
                            <a:schemeClr val="bg1"/>
                          </a:solidFill>
                          <a:effectLst/>
                        </a:rPr>
                        <a:t>0.81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072131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919314.0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2794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54.55%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1898.2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0.81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985915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919200.0</a:t>
                      </a:r>
                    </a:p>
                  </a:txBody>
                  <a:tcPr marL="82783" marR="55096" marT="63679" marB="6367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1297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55.56%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1048.6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0.81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06770"/>
                  </a:ext>
                </a:extLst>
              </a:tr>
              <a:tr h="37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919476.0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2105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54.84%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1463.4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>
                          <a:solidFill>
                            <a:schemeClr val="bg1"/>
                          </a:solidFill>
                          <a:effectLst/>
                        </a:rPr>
                        <a:t>0.81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000" cap="none" spc="0" dirty="0">
                          <a:solidFill>
                            <a:schemeClr val="bg1"/>
                          </a:solidFill>
                          <a:effectLst/>
                        </a:rPr>
                        <a:t>HIGH</a:t>
                      </a:r>
                    </a:p>
                  </a:txBody>
                  <a:tcPr marL="82783" marR="55096" marT="63679" marB="636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2768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275223B-FB38-2B9A-06A2-A08C55E03FC7}"/>
              </a:ext>
            </a:extLst>
          </p:cNvPr>
          <p:cNvSpPr txBox="1"/>
          <p:nvPr/>
        </p:nvSpPr>
        <p:spPr>
          <a:xfrm>
            <a:off x="1741714" y="1621971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TOP 10 OPERADORES MAS INEFICIENTES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00012"/>
            <a:ext cx="10406744" cy="913039"/>
          </a:xfrm>
        </p:spPr>
        <p:txBody>
          <a:bodyPr/>
          <a:lstStyle/>
          <a:p>
            <a:pPr algn="ctr"/>
            <a:r>
              <a:rPr lang="en-AU" dirty="0" err="1"/>
              <a:t>Hallazgos</a:t>
            </a:r>
            <a:r>
              <a:rPr lang="en-AU" dirty="0"/>
              <a:t> </a:t>
            </a:r>
            <a:r>
              <a:rPr lang="en-AU" dirty="0" err="1"/>
              <a:t>más</a:t>
            </a:r>
            <a:r>
              <a:rPr lang="en-AU" dirty="0"/>
              <a:t> </a:t>
            </a:r>
            <a:r>
              <a:rPr lang="en-AU" dirty="0" err="1"/>
              <a:t>relevantes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17171"/>
            <a:ext cx="10504714" cy="4931229"/>
          </a:xfrm>
        </p:spPr>
        <p:txBody>
          <a:bodyPr/>
          <a:lstStyle/>
          <a:p>
            <a:pPr marL="457200" indent="-457200">
              <a:buAutoNum type="arabicParenR"/>
            </a:pPr>
            <a:r>
              <a:rPr lang="es-ES" dirty="0"/>
              <a:t>El </a:t>
            </a:r>
            <a:r>
              <a:rPr lang="es-ES" b="1" dirty="0"/>
              <a:t>10% de los operadores</a:t>
            </a:r>
            <a:r>
              <a:rPr lang="es-ES" dirty="0"/>
              <a:t> concentra la mayoría de los problemas de desempeño.</a:t>
            </a:r>
          </a:p>
          <a:p>
            <a:endParaRPr lang="es-ES" dirty="0"/>
          </a:p>
          <a:p>
            <a:r>
              <a:rPr lang="es-ES" dirty="0"/>
              <a:t>2) Se observó un patrón:</a:t>
            </a:r>
            <a:br>
              <a:rPr lang="es-ES" dirty="0"/>
            </a:br>
            <a:r>
              <a:rPr lang="es-ES" dirty="0"/>
              <a:t>🔸 Los operadores con más llamadas perdidas también tienen tiempos de espera más largos.</a:t>
            </a:r>
            <a:br>
              <a:rPr lang="es-ES" dirty="0"/>
            </a:br>
            <a:r>
              <a:rPr lang="es-ES" dirty="0"/>
              <a:t>🔸 Algunos casos con baja actividad saliente muestran saturación en horas pico.</a:t>
            </a:r>
          </a:p>
          <a:p>
            <a:endParaRPr lang="es-ES" dirty="0"/>
          </a:p>
          <a:p>
            <a:r>
              <a:rPr lang="es-ES" dirty="0"/>
              <a:t>3) Las pruebas estadísticas confirmaron diferencias significativas (FDR &lt; 0.05) en varios casos.</a:t>
            </a:r>
          </a:p>
          <a:p>
            <a:endParaRPr lang="es-E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dirty="0"/>
              <a:t>El análisis reveló focos rojos concretos, no percepciones. Podemos dirigir coaching y reasignación de tráfico con precisión.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68" y="-11756"/>
            <a:ext cx="9875463" cy="999746"/>
          </a:xfrm>
        </p:spPr>
        <p:txBody>
          <a:bodyPr/>
          <a:lstStyle/>
          <a:p>
            <a:pPr algn="ctr"/>
            <a:r>
              <a:rPr lang="en-US" dirty="0"/>
              <a:t>RECOMENDACIONES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00193" y="1197429"/>
            <a:ext cx="10434607" cy="5410200"/>
          </a:xfrm>
        </p:spPr>
        <p:txBody>
          <a:bodyPr>
            <a:normAutofit/>
          </a:bodyPr>
          <a:lstStyle/>
          <a:p>
            <a:r>
              <a:rPr lang="es-ES" sz="3200" dirty="0"/>
              <a:t>Incorporar </a:t>
            </a:r>
            <a:r>
              <a:rPr lang="es-ES" sz="3200" b="1" dirty="0"/>
              <a:t>tendencias temporales</a:t>
            </a:r>
            <a:r>
              <a:rPr lang="es-ES" sz="3200" dirty="0"/>
              <a:t> (análisis semanal/mensual).</a:t>
            </a:r>
          </a:p>
          <a:p>
            <a:r>
              <a:rPr lang="es-ES" sz="3200" dirty="0"/>
              <a:t>Integrar datos del CRM → segmentar por tipo de cliente o campaña.</a:t>
            </a:r>
          </a:p>
          <a:p>
            <a:r>
              <a:rPr lang="es-ES" sz="3200" dirty="0"/>
              <a:t>Automatizar reportes en </a:t>
            </a:r>
            <a:r>
              <a:rPr lang="es-ES" sz="3200" b="1" dirty="0" err="1"/>
              <a:t>Tableau</a:t>
            </a:r>
            <a:r>
              <a:rPr lang="es-ES" sz="3200" b="1" dirty="0"/>
              <a:t> o </a:t>
            </a:r>
            <a:r>
              <a:rPr lang="es-ES" sz="3200" b="1" dirty="0" err="1"/>
              <a:t>Power</a:t>
            </a:r>
            <a:r>
              <a:rPr lang="es-ES" sz="3200" b="1" dirty="0"/>
              <a:t> BI</a:t>
            </a:r>
            <a:r>
              <a:rPr lang="es-ES" sz="3200" dirty="0"/>
              <a:t>.</a:t>
            </a:r>
          </a:p>
          <a:p>
            <a:r>
              <a:rPr lang="es-ES" sz="3200" dirty="0"/>
              <a:t>Enviar alertas automáticas a supervisores vía </a:t>
            </a:r>
            <a:r>
              <a:rPr lang="es-ES" sz="3200" dirty="0" err="1"/>
              <a:t>Slack</a:t>
            </a:r>
            <a:r>
              <a:rPr lang="es-ES" sz="3200" dirty="0"/>
              <a:t> o correo.</a:t>
            </a:r>
          </a:p>
          <a:p>
            <a:r>
              <a:rPr lang="es-ES" sz="3200" dirty="0"/>
              <a:t>El análisis sienta las bases de un monitoreo proactivo. A partir de datos duros, podemos pasar de la reacción a la prevención.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{475683CD-3276-4A7F-896A-0A6CD6D2298A}tf78438558_win32</Template>
  <TotalTime>127</TotalTime>
  <Words>760</Words>
  <Application>Microsoft Office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Wingdings</vt:lpstr>
      <vt:lpstr>Custom</vt:lpstr>
      <vt:lpstr>TOP OPERADORES INEFICIENTES EN CALLMEMAYBE  POR CARLOS VILLA  Octubre, 2025</vt:lpstr>
      <vt:lpstr>agenda</vt:lpstr>
      <vt:lpstr>Análisis de eficiencia operativa en el call center</vt:lpstr>
      <vt:lpstr>Depuración y normalización de los datos</vt:lpstr>
      <vt:lpstr>Definición de KPIs y construcción de métricas agregadas</vt:lpstr>
      <vt:lpstr>Confirmación estadística de ineficiencia</vt:lpstr>
      <vt:lpstr>Priorización automática de operadores según riesgo</vt:lpstr>
      <vt:lpstr>Hallazgos más relevantes</vt:lpstr>
      <vt:lpstr>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Villa</dc:creator>
  <cp:lastModifiedBy>Carlos Villa</cp:lastModifiedBy>
  <cp:revision>1</cp:revision>
  <dcterms:created xsi:type="dcterms:W3CDTF">2025-10-07T00:24:08Z</dcterms:created>
  <dcterms:modified xsi:type="dcterms:W3CDTF">2025-10-07T02:31:19Z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